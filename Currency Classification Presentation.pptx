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645813"/>
            <a:ext cx="800100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42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Currency Banknote Classification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33565" y="5364123"/>
            <a:ext cx="5476871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56"/>
              </a:lnSpc>
              <a:buNone/>
            </a:pPr>
            <a:r>
              <a:rPr lang="en-US" sz="21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Convolutional Neural Networks (CNN)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2965300" y="6374487"/>
            <a:ext cx="3213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Egyptian Pound 🇪🇬 · Indian Rupee 🇮🇳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3296960" y="9803131"/>
            <a:ext cx="254996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CS417 - Neural Networks | 2025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recognition of currency denominations and banknotes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Learning models for accurate classification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images captured via camera or smartphone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Achieving high accuracy in currency identification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applications in ATM systems and financial institutions</a:t>
            </a:r>
            <a:endParaRPr lang="en-US" sz="1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 machines and automatic currency counting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Vending machines and smart retail systems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applications for visually impaired users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Counterfeit currency detection and verification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banking and financial systems</a:t>
            </a:r>
            <a:endParaRPr lang="en-US" sz="1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819275"/>
            <a:ext cx="3857625" cy="3333750"/>
          </a:xfrm>
          <a:prstGeom prst="roundRect">
            <a:avLst>
              <a:gd name="adj" fmla="val 27429"/>
            </a:avLst>
          </a:prstGeom>
          <a:noFill/>
          <a:ln w="15240">
            <a:solidFill>
              <a:srgbClr val="1A73E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14875" y="1819275"/>
            <a:ext cx="3857625" cy="3333750"/>
          </a:xfrm>
          <a:prstGeom prst="roundRect">
            <a:avLst>
              <a:gd name="adj" fmla="val 27429"/>
            </a:avLst>
          </a:prstGeom>
          <a:noFill/>
          <a:ln w="15240">
            <a:solidFill>
              <a:srgbClr val="1A73E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Currencies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4865" y="2072641"/>
            <a:ext cx="341791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92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🇪🇬 Egyptian Pound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824865" y="4095273"/>
            <a:ext cx="3350895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Denominations:</a:t>
            </a:r>
            <a:pPr indent="0" marL="0">
              <a:lnSpc>
                <a:spcPts val="2112"/>
              </a:lnSpc>
              <a:buNone/>
            </a:pPr>
            <a:endParaRPr lang="en-US" sz="1320" dirty="0"/>
          </a:p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 · 5 · 10 · 20 · 50 · 100 · 200 EGP</a:t>
            </a:r>
            <a:endParaRPr lang="en-US" sz="1320" dirty="0"/>
          </a:p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(Old &amp; New versions)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4968240" y="2072641"/>
            <a:ext cx="341791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92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Indian Rupee</a:t>
            </a:r>
            <a:endParaRPr lang="en-US" sz="1920" dirty="0"/>
          </a:p>
        </p:txBody>
      </p:sp>
      <p:sp>
        <p:nvSpPr>
          <p:cNvPr id="8" name="Text 6"/>
          <p:cNvSpPr/>
          <p:nvPr/>
        </p:nvSpPr>
        <p:spPr>
          <a:xfrm>
            <a:off x="4968240" y="4095273"/>
            <a:ext cx="3350895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Denominations:</a:t>
            </a:r>
            <a:pPr indent="0" marL="0">
              <a:lnSpc>
                <a:spcPts val="2112"/>
              </a:lnSpc>
              <a:buNone/>
            </a:pPr>
            <a:endParaRPr lang="en-US" sz="1320" dirty="0"/>
          </a:p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 · 20 · 50 · 100 · 200 · 500 · 2000 INR</a:t>
            </a:r>
            <a:endParaRPr lang="en-US" sz="1320" dirty="0"/>
          </a:p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(Old &amp; Modern versions)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Information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Classes: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 (9 Egyptian + 11 Indian)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Size: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128 × 128 pixels (RGB)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Split: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Training 70% · Testing 15% · Validation 15%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Processing: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Normalization and Data Augmentation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Samples per Class: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100 images</a:t>
            </a:r>
            <a:endParaRPr lang="en-US" sz="1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Normalization: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Scale pixel values to [0, 1]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Resizing: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 images to 128 × 128 pixels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±20 degrees for different angles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Horizontal Flip: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50% probability flipping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Brightness Adjustment: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Random lighting variations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771650"/>
            <a:ext cx="8001000" cy="2164080"/>
          </a:xfrm>
          <a:prstGeom prst="rect">
            <a:avLst/>
          </a:prstGeom>
          <a:solidFill>
            <a:srgbClr val="34A853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771650"/>
            <a:ext cx="80010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(128×128×3)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MobileNetV2 (Transfer Learning)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Global Average Pooling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Dense(256, ReLU) + Dropout(0.5)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1380" dirty="0"/>
          </a:p>
          <a:p>
            <a:pPr indent="0" marL="0">
              <a:lnSpc>
                <a:spcPts val="1242"/>
              </a:lnSpc>
              <a:buNone/>
            </a:pPr>
            <a:r>
              <a:rPr lang="en-US" sz="1380" dirty="0">
                <a:solidFill>
                  <a:srgbClr val="F1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Output (20 Classes, Softmax)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571500" y="4126232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1F3F4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pPr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Transfer Learning with Fine-tuning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1819275"/>
            <a:ext cx="3616166" cy="1139190"/>
          </a:xfrm>
          <a:prstGeom prst="roundRect">
            <a:avLst>
              <a:gd name="adj" fmla="val 64214"/>
            </a:avLst>
          </a:prstGeom>
          <a:solidFill>
            <a:srgbClr val="1A73E8">
              <a:alpha val="20000"/>
            </a:srgbClr>
          </a:solidFill>
          <a:ln w="15240">
            <a:solidFill>
              <a:srgbClr val="1A73E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61203" y="1819275"/>
            <a:ext cx="3616166" cy="1139190"/>
          </a:xfrm>
          <a:prstGeom prst="roundRect">
            <a:avLst>
              <a:gd name="adj" fmla="val 64214"/>
            </a:avLst>
          </a:prstGeom>
          <a:solidFill>
            <a:srgbClr val="1A73E8">
              <a:alpha val="20000"/>
            </a:srgbClr>
          </a:solidFill>
          <a:ln w="15240">
            <a:solidFill>
              <a:srgbClr val="1A73E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50" y="1819275"/>
            <a:ext cx="3616166" cy="113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pPr algn="ctr" indent="0" marL="0">
              <a:lnSpc>
                <a:spcPts val="1080"/>
              </a:lnSpc>
              <a:buNone/>
            </a:pP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Freeze MobileNetV2</a:t>
            </a: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Train Head Layers</a:t>
            </a: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 Epochs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73416" y="2236473"/>
            <a:ext cx="2012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61203" y="1819275"/>
            <a:ext cx="3616166" cy="113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pPr algn="ctr" indent="0" marL="0">
              <a:lnSpc>
                <a:spcPts val="1080"/>
              </a:lnSpc>
              <a:buNone/>
            </a:pP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Unfreeze (Last 80 layers)</a:t>
            </a: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Fine-tuning</a:t>
            </a:r>
            <a:endParaRPr lang="en-US" sz="12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 Epochs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819275"/>
            <a:ext cx="253996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819275"/>
            <a:ext cx="253996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32421" y="1819275"/>
            <a:ext cx="254008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148966"/>
            <a:ext cx="253996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961" y="3148966"/>
            <a:ext cx="253996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32421" y="3148966"/>
            <a:ext cx="2540080" cy="1139190"/>
          </a:xfrm>
          <a:prstGeom prst="roundRect">
            <a:avLst>
              <a:gd name="adj" fmla="val 64214"/>
            </a:avLst>
          </a:prstGeom>
          <a:solidFill>
            <a:srgbClr val="FBBC04">
              <a:alpha val="15000"/>
            </a:srgbClr>
          </a:solidFill>
          <a:ln w="15240">
            <a:solidFill>
              <a:srgbClr val="FBBC0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Parameters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5956" y="2025016"/>
            <a:ext cx="217105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524125"/>
            <a:ext cx="212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Size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486416" y="2025016"/>
            <a:ext cx="217105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7700" y="2524125"/>
            <a:ext cx="212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216875" y="2025016"/>
            <a:ext cx="21711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1e-4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38161" y="2524125"/>
            <a:ext cx="2128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Rate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55956" y="3354707"/>
            <a:ext cx="217105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3853816"/>
            <a:ext cx="212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486416" y="3354707"/>
            <a:ext cx="217105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07700" y="3853816"/>
            <a:ext cx="212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Function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216875" y="3354707"/>
            <a:ext cx="21711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EarlyStopping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38161" y="3853816"/>
            <a:ext cx="2128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32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Regularization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Ensemble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013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 (Indian):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Specialized for Indian Rupee - 11 classes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 (Egyptian):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Specialized for Egyptian Pound - 9 classes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Stacking: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Combining outputs with additional layers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Output: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 classes merged into single model</a:t>
            </a:r>
            <a:endParaRPr lang="en-US" sz="1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dataset.py / datasete.py / datasetc.py: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Data loading &amp; preprocessing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model.py / modelc.py: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 architecture definitions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train.py / trainc.py: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Training loops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test.py: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 testing on new data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train_model_1.py: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Advanced training with Transfer Learning</a:t>
            </a:r>
            <a:endParaRPr lang="en-US" sz="1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Ratio of correct classifications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Accuracy of positive predictions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Ability to find all positive cases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Harmonic mean of Precision and Recall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Confusion Matrix: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Error analysis visualization</a:t>
            </a:r>
            <a:endParaRPr lang="en-US" sz="15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Accuracy: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~92-95%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Accuracy: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~90-93%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Size: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~40 MB (Compressed MobileNetV2)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Time: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~50-100 ms per image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Threshold: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0.85 for reliable predictions</a:t>
            </a:r>
            <a:endParaRPr lang="en-US" sz="1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Lighting Variation: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Using Data Augmentation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Similarity: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Specialized models + Ensemble Learning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Data: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Transfer Learning from ImageNet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Overfitting: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Dropout and Early Stopping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b="1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Imbalance:</a:t>
            </a:r>
            <a:pPr indent="0" marL="0">
              <a:lnSpc>
                <a:spcPts val="3120"/>
              </a:lnSpc>
              <a:buNone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Class Weights and Balanced Sampling</a:t>
            </a:r>
            <a:endParaRPr lang="en-US" sz="15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57250"/>
            <a:ext cx="80010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1A7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771650"/>
            <a:ext cx="80010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more powerful models (EfficientNet, ResNet)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counterfeit banknote detection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deployment for smartphone applications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additional currencies (Dollar, Euro, etc.)</a:t>
            </a:r>
            <a:endParaRPr lang="en-US" sz="1560" dirty="0"/>
          </a:p>
          <a:p>
            <a:pPr marL="342900" indent="-342900">
              <a:lnSpc>
                <a:spcPts val="3120"/>
              </a:lnSpc>
              <a:buSzPct val="100000"/>
              <a:buChar char="•"/>
            </a:pPr>
            <a:r>
              <a:rPr lang="en-US" sz="156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Developing interactive web user interface</a:t>
            </a:r>
            <a:endParaRPr lang="en-US" sz="15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1025" y="2787021"/>
            <a:ext cx="280195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42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71500" y="4170043"/>
            <a:ext cx="8001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68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successfully built an intelligent system capable of recognizing Egyptian and Indian currencies with very high accuracy.</a:t>
            </a:r>
            <a:endParaRPr lang="en-US" sz="1680" dirty="0"/>
          </a:p>
          <a:p>
            <a:pPr algn="ctr" indent="0" marL="0">
              <a:lnSpc>
                <a:spcPts val="3360"/>
              </a:lnSpc>
              <a:buNone/>
            </a:pPr>
            <a:r>
              <a:rPr lang="en-US" sz="168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680" dirty="0"/>
          </a:p>
          <a:p>
            <a:pPr algn="ctr" indent="0" marL="0">
              <a:lnSpc>
                <a:spcPts val="3360"/>
              </a:lnSpc>
              <a:buNone/>
            </a:pPr>
            <a:r>
              <a:rPr lang="en-US" sz="168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680" dirty="0"/>
          </a:p>
          <a:p>
            <a:pPr algn="ctr" indent="0" marL="0">
              <a:lnSpc>
                <a:spcPts val="3360"/>
              </a:lnSpc>
              <a:buNone/>
            </a:pPr>
            <a:r>
              <a:rPr lang="en-US" sz="168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include modern banking systems, financial institutions, and smart mobile applications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2053742" y="7256143"/>
            <a:ext cx="503651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144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Professional model · High accuracy · Practical applications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7083" y="3798568"/>
            <a:ext cx="3249835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FBBC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358171" y="5177796"/>
            <a:ext cx="24275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97203" y="6244596"/>
            <a:ext cx="534947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1440" dirty="0">
                <a:solidFill>
                  <a:srgbClr val="F1F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Egyptian Pound 🇪🇬 + Indian Rupee 🇮🇳 = Unified Smart System 🤖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2025-12-15T21:15:23Z</dcterms:created>
  <dcterms:modified xsi:type="dcterms:W3CDTF">2025-12-15T21:15:23Z</dcterms:modified>
</cp:coreProperties>
</file>